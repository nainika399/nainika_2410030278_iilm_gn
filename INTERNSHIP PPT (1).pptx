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182880"/>
            <a:ext cx="2743200" cy="182880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1097280"/>
            <a:ext cx="1463040" cy="594360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-91440"/>
            <a:ext cx="164592" cy="70408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79552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DATA SCIENCE MASTER</a:t>
            </a:r>
          </a:p>
          <a:p>
            <a:r>
              <a:rPr sz="3800" b="1">
                <a:solidFill>
                  <a:srgbClr val="FFFFFF"/>
                </a:solidFill>
                <a:latin typeface="Aptos"/>
              </a:rPr>
              <a:t>VIRTUAL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584448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DD6E0"/>
                </a:solidFill>
                <a:latin typeface="Aptos"/>
              </a:rPr>
              <a:t>Internship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72000"/>
            <a:ext cx="6766560" cy="1234440"/>
          </a:xfrm>
          <a:prstGeom prst="roundRect">
            <a:avLst/>
          </a:prstGeom>
          <a:solidFill>
            <a:srgbClr val="1A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828032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NAINIKA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230368"/>
            <a:ext cx="5852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5"/>
                </a:solidFill>
                <a:latin typeface="Aptos"/>
              </a:rPr>
              <a:t>Roll No. 2410030278  |  B.Tech (Computer Science &amp; Engineering)</a:t>
            </a:r>
          </a:p>
          <a:p>
            <a:r>
              <a:rPr sz="1150" b="0">
                <a:solidFill>
                  <a:srgbClr val="CFDAE5"/>
                </a:solidFill>
                <a:latin typeface="Aptos"/>
              </a:rPr>
              <a:t>Batch 2024–2028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715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ptos"/>
              </a:rPr>
              <a:t>April – June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75488"/>
            <a:ext cx="4800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585216"/>
            <a:ext cx="713232" cy="713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4208" y="6583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43B"/>
                </a:solidFill>
                <a:latin typeface="Aptos"/>
              </a:rPr>
              <a:t>IILM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9875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6C212C"/>
                </a:solidFill>
                <a:latin typeface="Aptos"/>
              </a:rPr>
              <a:t>Greater Noida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74519"/>
            <a:ext cx="7955279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DATA SCIENCE MASTER</a:t>
            </a:r>
          </a:p>
          <a:p>
            <a:r>
              <a:rPr sz="3800" b="1">
                <a:solidFill>
                  <a:srgbClr val="FFFFFF"/>
                </a:solidFill>
                <a:latin typeface="Aptos"/>
              </a:rPr>
              <a:t>VIRTUAL 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584448"/>
            <a:ext cx="4114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CDD6E0"/>
                </a:solidFill>
                <a:latin typeface="Aptos"/>
              </a:rPr>
              <a:t>Internship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Internship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structured 8-week learning experience covering the complete data science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64008" cy="118872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8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Duration of the virtual internship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64008" cy="118872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842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4 Learning 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41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Data Engineering, Machine Learning, Applications &amp; Use Cases, Platform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39"/>
            <a:ext cx="5166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91839"/>
            <a:ext cx="64008" cy="118872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Apr–Jun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Internship 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91839"/>
            <a:ext cx="5166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39"/>
            <a:ext cx="64008" cy="118872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493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50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From data access and preparation to deployment-oriented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D30"/>
                </a:solidFill>
                <a:latin typeface="Aptos"/>
              </a:rPr>
              <a:t>Programme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Aptos"/>
              </a:rPr>
              <a:t>The internship combined data preparation, machine learning, applications, integration, deployment and platform operations into a connected learning journey.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Organisation &amp; Programme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internship was completed through the AICTE–EduSkills virtual internship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35661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EduSkills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An ISO-certified skill-development organisation working under the theme “Nation Building Through Skills.”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356616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01368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AICTE–EduSkills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58568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A structured virtual internship with learning modules, weekly assessments, assignments and a final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64008" cy="35661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Siemens Data Science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58568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A practical learning pathway built around the RapidMiner (Altair) ecosystem and industry-oriented analytics skills.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Academic context: B.Tech in Computer Science &amp; Engineering | IILM University, Greater Noida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challenge of turning diverse raw data into reliable analytical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Aptos"/>
              </a:rPr>
              <a:t>Modern organisations collect data from files, databases, software applications, web services and distributed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429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64008" cy="228600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Data Quality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Data can be incomplete, inconsistent, unstructured or frequently changing, making reliable analysis difficult.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23160"/>
            <a:ext cx="3429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423160"/>
            <a:ext cx="64008" cy="228600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Model-to-Production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81528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A model must be evaluated, documented, reproduced and integrated before it can create practical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23160"/>
            <a:ext cx="3429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423160"/>
            <a:ext cx="64008" cy="228600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Operational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81528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Deployment, execution management, scheduling and platform administration are also required in real analytical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1D30"/>
                </a:solidFill>
                <a:latin typeface="Aptos"/>
              </a:rPr>
              <a:t>Internship response → build a complete understanding of how raw data is transformed into dependable, deployable analytics.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internship objectives combined core technical learning with practical and production-oriented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90472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Develop practical knowledge of data access, cleansing, transformation and preparation workflows.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90472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Learn advanced data-engineering techniques including text processing, macros, loops and Web API interaction.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834639"/>
            <a:ext cx="502920" cy="502920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16351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Understand classification, feature engineering, parameter optimisation and model evaluation.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834639"/>
            <a:ext cx="502920" cy="502920"/>
          </a:xfrm>
          <a:prstGeom prst="ellipse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077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816351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Study time-series forecasting and the use of Python and R within analytical workflows.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336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42232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Use CRISP-DM to organise a data-science project from business understanding through deployment.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336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142232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Gain awareness of web applications, AI Hub administration, scheduling and real-time scoring.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Overall objective: connect data engineering, machine learning, applications and platform operations into one end-to-end understanding of data science.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Scope &amp; Learning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programme covered transferable skills across the analytical lifecycle rather than one dataset or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66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15087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7548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Data access, cleansing, transformation, text processing, macros, loops and Web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66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64008" cy="150876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556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47548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Classification, feature engineering, parameter optimisation and time-series forecasting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166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29000"/>
            <a:ext cx="64008" cy="150876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Applications &amp;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47548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CRISP-DM, evaluation, deployment and practical web-application concepts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29000"/>
            <a:ext cx="5166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429000"/>
            <a:ext cx="64008" cy="15087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63016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Platform 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87368"/>
            <a:ext cx="47548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AI Hub, projects, jobs, queues, schedules, deployment and real-time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440680"/>
            <a:ext cx="1828800" cy="347472"/>
          </a:xfrm>
          <a:prstGeom prst="round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589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Professional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5440680"/>
            <a:ext cx="1645920" cy="347472"/>
          </a:xfrm>
          <a:prstGeom prst="round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5458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Master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3949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Together, these tracks connected model development with the infrastructure and processes needed to operate analytical workflows.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Technologies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Main technologies, platforms and methodologies covered during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64008" cy="10972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Altair AI Studio / RapidMiner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Visual data preparation, ETL-style workflows and machine-learning process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64008" cy="109728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64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Altair AI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2140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Projects, executions, jobs, queues, schedules and deployment-oriented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64008" cy="10972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66420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2140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Integration of external data-science code and packages into analytical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8036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64008" cy="10972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815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3872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Integration of statistical and analytical models where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88036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880360"/>
            <a:ext cx="64008" cy="109728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815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Web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53872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Connecting workflows with external data and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88036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880360"/>
            <a:ext cx="64008" cy="10972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815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Text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38728"/>
            <a:ext cx="301752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Preparing and transforming unstructured textual information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34290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297680"/>
            <a:ext cx="64008" cy="109728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8056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CRISP-DM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82896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C7D"/>
                </a:solidFill>
              </a:rPr>
              <a:t>Business understanding, data preparation, modelling, evaluation and deployment.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Conceptual workflow representing the layers covered throughout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4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Files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Databases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Web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536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48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DATA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3976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Access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Cleanse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2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4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Features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Classification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Parameter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67528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48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Python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R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Specialised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0024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4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CRISP-DM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Use Cases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48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Web Apps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AI Hub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Scheduling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06324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097"/>
                </a:solidFill>
                <a:latin typeface="Apto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15016" y="2240280"/>
            <a:ext cx="1417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49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2487168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D30"/>
                </a:solidFill>
                <a:latin typeface="Aptos"/>
              </a:rPr>
              <a:t>ADMINISTRATION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6456" y="306324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5F6C7D"/>
                </a:solidFill>
                <a:latin typeface="Aptos"/>
              </a:rPr>
              <a:t>Projects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Jobs &amp; Queues</a:t>
            </a:r>
          </a:p>
          <a:p>
            <a:r>
              <a:rPr sz="919" b="0">
                <a:solidFill>
                  <a:srgbClr val="5F6C7D"/>
                </a:solidFill>
                <a:latin typeface="Aptos"/>
              </a:rPr>
              <a:t>Real-Time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C2430"/>
                </a:solidFill>
                <a:latin typeface="Aptos"/>
              </a:rPr>
              <a:t>The architecture links data acquisition and preparation with modelling, integration, application, deployment and managed execution.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Progressive, assessment-driven learning from data access to platform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512064" cy="420624"/>
          </a:xfrm>
          <a:prstGeom prst="round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138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1109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Data Understanding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9631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Identify sources and understand access to structured and external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73736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1901952"/>
            <a:ext cx="512064" cy="420624"/>
          </a:xfrm>
          <a:prstGeom prst="round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96138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91109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Data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9631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Clean, transform and organise information for dependable analytical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73736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1384" y="1901952"/>
            <a:ext cx="512064" cy="420624"/>
          </a:xfrm>
          <a:prstGeom prst="round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96138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91109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Advanced Data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49631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Use text processing, macros, loops and Web APIs to build flexible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173736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9176" y="1901952"/>
            <a:ext cx="512064" cy="420624"/>
          </a:xfrm>
          <a:prstGeom prst="round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9176" y="196138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9256" y="191109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Model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49631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Study classification and other machine-learning processes using prepared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03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3867911"/>
            <a:ext cx="512064" cy="420624"/>
          </a:xfrm>
          <a:prstGeom prst="round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2734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77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Feature Engineering &amp; Optimisation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462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Improve model inputs and tune parameters in a systematic way.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3703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93592" y="3867911"/>
            <a:ext cx="512064" cy="420624"/>
          </a:xfrm>
          <a:prstGeom prst="round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392734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3877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Advanced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462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Explore time-series forecasting and integration with Python and 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8504" y="3703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01384" y="3867911"/>
            <a:ext cx="512064" cy="420624"/>
          </a:xfrm>
          <a:prstGeom prst="round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4" y="392734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1464" y="3877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Applications &amp; Use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4462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Structure projects with CRISP-DM while considering evaluation and deployment.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26296" y="3703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09176" y="3867911"/>
            <a:ext cx="512064" cy="420624"/>
          </a:xfrm>
          <a:prstGeom prst="round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9176" y="392734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9256" y="3877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1D30"/>
                </a:solidFill>
                <a:latin typeface="Aptos"/>
              </a:rPr>
              <a:t>Platform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4462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F6C7D"/>
                </a:solidFill>
                <a:latin typeface="Aptos"/>
              </a:rPr>
              <a:t>Understand AI Hub administration, deployment packages and real-time scoring.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870448"/>
            <a:ext cx="10835640" cy="384048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94360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01D30"/>
                </a:solidFill>
                <a:latin typeface="Aptos"/>
              </a:rPr>
              <a:t>Learning progression: Foundation → Advanced Processing → Integration → Deployment → Operations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Key Learning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Four major learning areas that shaped the internship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7373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4709159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Professional: data access, cleansing and workflow construction.</a:t>
            </a:r>
          </a:p>
          <a:p>
            <a:r>
              <a:rPr sz="1150" b="0">
                <a:solidFill>
                  <a:srgbClr val="5F6C7D"/>
                </a:solidFill>
                <a:latin typeface="Aptos"/>
              </a:rPr>
              <a:t>Master: text processing, macros, loops and Web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51206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54480"/>
            <a:ext cx="64008" cy="173736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755648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12848"/>
            <a:ext cx="4709159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Professional: classification and core modelling.</a:t>
            </a:r>
          </a:p>
          <a:p>
            <a:r>
              <a:rPr sz="1150" b="0">
                <a:solidFill>
                  <a:srgbClr val="5F6C7D"/>
                </a:solidFill>
                <a:latin typeface="Aptos"/>
              </a:rPr>
              <a:t>Master: feature engineering, parameter optimisation, forecasting and Python/R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1206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64008" cy="173736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7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Applications &amp;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61688"/>
            <a:ext cx="4709159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Used CRISP-DM to organise data-science work and connect modelling with evaluation, deployment and practical applications.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12064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64008" cy="173736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904487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D30"/>
                </a:solidFill>
                <a:latin typeface="Aptos"/>
              </a:rPr>
              <a:t>Platform 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361688"/>
            <a:ext cx="4709159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D"/>
                </a:solidFill>
                <a:latin typeface="Aptos"/>
              </a:rPr>
              <a:t>Covered AI Hub projects, jobs, queues, execution environments, schedules, access management and real-time scoring.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01D30"/>
                </a:solidFill>
                <a:latin typeface="Aptos"/>
              </a:rPr>
              <a:t>Learning progression: foundation → advanced processing → integration → deployment →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D30"/>
                </a:solidFill>
                <a:latin typeface="Aptos"/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0584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Capabilities developed through the internship learning and assessment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9903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Explain a complete data workflow from source-data collection to analytical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4173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9903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Apply knowledge of data cleaning, transformation and preparation techniques.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059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Understand text processing, macros, loops and Web API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4688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45059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Use classification, feature engineering and parameter-tuning concepts.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39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02151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Recognise time-series forecasting and combined Python/R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520439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02151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Apply CRISP-DM as a systematic framework for data-science projects.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5371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Understand deployment, web applications and real-time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5720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097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55371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430"/>
                </a:solidFill>
                <a:latin typeface="Aptos"/>
              </a:rPr>
              <a:t>Appreciate collaborative and administrative requirements in enterprise analytics.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D"/>
                </a:solidFill>
                <a:latin typeface="Aptos"/>
              </a:rPr>
              <a:t>Data Science Master Virtual Internship | Nainika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C7D"/>
                </a:solidFill>
                <a:latin typeface="Apto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1D30"/>
                </a:solidFill>
                <a:latin typeface="Aptos"/>
              </a:rPr>
              <a:t>Internship Completion &amp; Supporting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25880" cy="54864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F6C7D"/>
                </a:solidFill>
                <a:latin typeface="Aptos"/>
              </a:rPr>
              <a:t>Completion certificate, programme documentation and internship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9319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49097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7315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1417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64008" cy="1417320"/>
          </a:xfrm>
          <a:prstGeom prst="rect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0020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1D30"/>
                </a:solidFill>
                <a:latin typeface="Aptos"/>
              </a:rPr>
              <a:t>Completion Certificate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84248"/>
            <a:ext cx="31546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/>
              <a:t>Official certificate confirming successful completion of the 8-week Data Science Master Virtual Internship during April–June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0175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3017520"/>
            <a:ext cx="64008" cy="1417320"/>
          </a:xfrm>
          <a:prstGeom prst="rect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20040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1D30"/>
                </a:solidFill>
                <a:latin typeface="Aptos"/>
              </a:rPr>
              <a:t>Internship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584448"/>
            <a:ext cx="31546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/>
              <a:t>The report includes the official internship offer letter and completion communication as supporting programme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617720"/>
            <a:ext cx="3566160" cy="1417320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2" y="4864608"/>
            <a:ext cx="868680" cy="868680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502920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528523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Academic performance achievement during the internship programme.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Data Science Master Virtual Internship | Nainika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446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IILM University, Greater Noida</a:t>
            </a:r>
          </a:p>
        </p:txBody>
      </p:sp>
      <p:pic>
        <p:nvPicPr>
          <p:cNvPr id="23" name="Picture 22" descr="nainika_certificate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1527048"/>
            <a:ext cx="3429000" cy="4882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27432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6527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The internship provided a complete and practical view of data science from data access to deployment.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2221992"/>
            <a:ext cx="219456" cy="219456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86207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EBF0F5"/>
                </a:solidFill>
              </a:rPr>
              <a:t>Integrated learning across data engineering, machine learning, applications and platform administration.</a:t>
            </a:r>
          </a:p>
        </p:txBody>
      </p:sp>
      <p:sp>
        <p:nvSpPr>
          <p:cNvPr id="6" name="Oval 5"/>
          <p:cNvSpPr/>
          <p:nvPr/>
        </p:nvSpPr>
        <p:spPr>
          <a:xfrm>
            <a:off x="4160520" y="2221992"/>
            <a:ext cx="219456" cy="219456"/>
          </a:xfrm>
          <a:prstGeom prst="ellipse">
            <a:avLst/>
          </a:prstGeom>
          <a:solidFill>
            <a:srgbClr val="F4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2148840"/>
            <a:ext cx="286207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EBF0F5"/>
                </a:solidFill>
              </a:rPr>
              <a:t>Strengthened understanding of real-world analytical workflows, from data preparation to model development and deployment.</a:t>
            </a:r>
          </a:p>
        </p:txBody>
      </p:sp>
      <p:sp>
        <p:nvSpPr>
          <p:cNvPr id="8" name="Oval 7"/>
          <p:cNvSpPr/>
          <p:nvPr/>
        </p:nvSpPr>
        <p:spPr>
          <a:xfrm>
            <a:off x="7607808" y="2221992"/>
            <a:ext cx="219456" cy="219456"/>
          </a:xfrm>
          <a:prstGeom prst="ellipse">
            <a:avLst/>
          </a:prstGeom>
          <a:solidFill>
            <a:srgbClr val="149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1856" y="2148840"/>
            <a:ext cx="304495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EBF0F5"/>
                </a:solidFill>
              </a:rPr>
              <a:t>Built a strong foundation for future learning in automation, AI integration and production-oriented data science.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074920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513832"/>
            <a:ext cx="32004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BECDDC"/>
                </a:solidFill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6053328"/>
            <a:ext cx="42976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D2DCE6"/>
                </a:solidFill>
              </a:rPr>
              <a:t>NAINIKA  |  B.Tech CSE  |  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